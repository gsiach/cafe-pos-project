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3B4A9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2926080" cy="2926080"/>
          </a:xfrm>
          <a:prstGeom prst="ellipse">
            <a:avLst/>
          </a:prstGeom>
          <a:solidFill>
            <a:srgbClr val="26305F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3B4A9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CSC4630 — ADVANCED SOFTWARE ENGINEERING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Cafe Restaurant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 System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Process build: Inception  →  Elaboration  →  Construction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566928" cy="566928"/>
          </a:xfrm>
          <a:prstGeom prst="ellipse">
            <a:avLst/>
          </a:prstGeom>
          <a:solidFill>
            <a:srgbClr val="3B4A9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330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577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88920" y="4709160"/>
            <a:ext cx="566928" cy="566928"/>
          </a:xfrm>
          <a:prstGeom prst="ellipse">
            <a:avLst/>
          </a:prstGeom>
          <a:solidFill>
            <a:srgbClr val="3B4A9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8892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5330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Guba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5577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4709160"/>
            <a:ext cx="566928" cy="566928"/>
          </a:xfrm>
          <a:prstGeom prst="ellipse">
            <a:avLst/>
          </a:prstGeom>
          <a:solidFill>
            <a:srgbClr val="3B4A9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5330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5577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0840" y="4709160"/>
            <a:ext cx="566928" cy="566928"/>
          </a:xfrm>
          <a:prstGeom prst="ellipse">
            <a:avLst/>
          </a:prstGeom>
          <a:solidFill>
            <a:srgbClr val="3B4A9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2084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5330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Kalebalika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5577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86800" y="4709160"/>
            <a:ext cx="566928" cy="566928"/>
          </a:xfrm>
          <a:prstGeom prst="ellipse">
            <a:avLst/>
          </a:prstGeom>
          <a:solidFill>
            <a:srgbClr val="3B4A9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5330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5577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Restaurant POS System  •  CSC4630 Advanced Software Engineering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7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947672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0392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745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4028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small café needs a POS system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7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382512" y="1947672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82512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8745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24028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Larman's Unified Process across four phases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24612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7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" y="3502152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429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79476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offline-first design from Elaboration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24612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7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82512" y="3502152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82512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429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79476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+ Supabase for Construction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480060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7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" y="5056632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0392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9834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34924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of every built screen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480060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7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6382512" y="5056632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82512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49834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534924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and defect tracking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Restaurant POS System  •  CSC4630 Advanced Software Engineering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— BUSINESS CASE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System Exists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3736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café and restaurant operations run order-taking, kitchen coordination, and inventory tracking as separate, manual, disconnected steps. That gap is where orders get lost, stock runs out unnoticed, and revenue is hard to reconcile.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94360" y="352958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33832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whether a small café genuinely needs a POS system in day-to-day operation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409651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39502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orders end-to-end: placed → preparing → ready → served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466344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6112" y="451713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management real-time visibility into revenue and stock levels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178040" y="1737360"/>
            <a:ext cx="4434840" cy="3977640"/>
          </a:xfrm>
          <a:prstGeom prst="roundRect">
            <a:avLst>
              <a:gd name="adj" fmla="val 2299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543800" y="20116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ANSWERED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233172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this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exist?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352044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validated through a vision document, feasibility study, and risk analysis before any design work began.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543800" y="4663440"/>
            <a:ext cx="3703320" cy="0"/>
          </a:xfrm>
          <a:prstGeom prst="line">
            <a:avLst/>
          </a:prstGeom>
          <a:noFill/>
          <a:ln w="12700">
            <a:solidFill>
              <a:srgbClr val="4450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43800" y="48463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Craig Larman's Unified Process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 taught in class)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Restaurant POS System  •  CSC4630 Advanced Software Engineering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Unified Process, Phase by Phase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12468" y="3474720"/>
            <a:ext cx="8366760" cy="0"/>
          </a:xfrm>
          <a:prstGeom prst="line">
            <a:avLst/>
          </a:prstGeom>
          <a:noFill/>
          <a:ln w="38100">
            <a:solidFill>
              <a:srgbClr val="D8DC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8028" y="228600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56436" y="2029968"/>
            <a:ext cx="512064" cy="51206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56436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15188" y="26700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Inception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0908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feasibility,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analysis, use cases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15188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66948" y="228600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45356" y="2029968"/>
            <a:ext cx="512064" cy="51206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45356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04108" y="26700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Elaboration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649828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model, architecture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proof-of-concept, UI prototypes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04108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55868" y="228600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34276" y="2029968"/>
            <a:ext cx="512064" cy="51206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34276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393028" y="26700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38748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build of all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features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93028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44788" y="228600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7F7FA"/>
          </a:solidFill>
          <a:ln w="12700">
            <a:solidFill>
              <a:srgbClr val="D8DC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23196" y="2029968"/>
            <a:ext cx="512064" cy="512064"/>
          </a:xfrm>
          <a:prstGeom prst="ellipse">
            <a:avLst/>
          </a:prstGeom>
          <a:solidFill>
            <a:srgbClr val="C6CBD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23196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181948" y="26700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227668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 &amp;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181948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here: Construction is complete and verified — this presentation is part of Transition.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Restaurant POS System  •  CSC4630 Advanced Software Engineering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Inception — What We Delivered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F7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Document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986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purpose, scope, and stakeholders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33672" y="178308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F7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462272" y="201168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622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62272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462272" y="28986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operational viability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72984" y="178308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F7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101584" y="201168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0158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101584" y="28986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project and technical risks identified early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3584448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F7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813048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361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7000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Cashier, Waiter, Kitchen Staff, Manager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33672" y="3584448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F7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462272" y="3813048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62272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462272" y="4361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462272" y="47000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Justifying the system against manual operations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72984" y="3584448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F7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8101584" y="3813048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01584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101584" y="4361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101584" y="47000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vocabulary across the whole team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Restaurant POS System  •  CSC4630 Advanced Software Engineering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Elaboration — Architecture Proof of Concept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916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layered, offline-first architecture: the UI never talks to the remote database directly, and a dedicated synchronization layer reconciles local and remote state when connectivity returns.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UI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269748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37560" y="26974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269748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3B4A94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26974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2062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4206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Database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03320" y="42062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E8735E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703320" y="4206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42062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3B4A94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720840" y="4206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Database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71800" y="3040380"/>
            <a:ext cx="365760" cy="0"/>
          </a:xfrm>
          <a:prstGeom prst="line">
            <a:avLst/>
          </a:prstGeom>
          <a:noFill/>
          <a:ln w="25400">
            <a:solidFill>
              <a:srgbClr val="9AA0B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89320" y="3040380"/>
            <a:ext cx="365760" cy="0"/>
          </a:xfrm>
          <a:prstGeom prst="line">
            <a:avLst/>
          </a:prstGeom>
          <a:noFill/>
          <a:ln w="25400">
            <a:solidFill>
              <a:srgbClr val="9AA0B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37560" y="4549140"/>
            <a:ext cx="365760" cy="0"/>
          </a:xfrm>
          <a:prstGeom prst="line">
            <a:avLst/>
          </a:prstGeom>
          <a:noFill/>
          <a:ln w="25400">
            <a:solidFill>
              <a:srgbClr val="9AA0B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55080" y="4549140"/>
            <a:ext cx="365760" cy="0"/>
          </a:xfrm>
          <a:prstGeom prst="line">
            <a:avLst/>
          </a:prstGeom>
          <a:noFill/>
          <a:ln w="25400">
            <a:solidFill>
              <a:srgbClr val="9AA0B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63440" y="3383280"/>
            <a:ext cx="0" cy="822960"/>
          </a:xfrm>
          <a:prstGeom prst="line">
            <a:avLst/>
          </a:prstGeom>
          <a:noFill/>
          <a:ln w="25400">
            <a:solidFill>
              <a:srgbClr val="9AA0BE"/>
            </a:solidFill>
            <a:prstDash val="dash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703320" y="4956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when connectivity is detected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5532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delivered in Elaboration: complete design class diagrams, UI prototypes for every screen, system sequence diagrams, and an updated risk list.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Restaurant POS System  •  CSC4630 Advanced Software Engineering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—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7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203911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0392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025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2651760"/>
            <a:ext cx="4608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with fast local dev builds; role-based routing drives which screen each staff member sees.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7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382512" y="203911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82512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0025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2651760"/>
            <a:ext cx="4608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of 10 tables — roles, users, orders, line items, payments, inventory — matching the Elaboration domain model.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88620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7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" y="41422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056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" y="4754880"/>
            <a:ext cx="4608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 staff login, mapped to roles (Cashier, Waiter, KitchenStaff, Manager, Administrator).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88620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7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82512" y="41422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961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82512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1056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Realtime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4754880"/>
            <a:ext cx="4608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order-status updates pushed to Kitchen Display and Active Orders without polling or manual refresh.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Restaurant POS System  •  CSC4630 Advanced Software Engineering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280160"/>
            <a:ext cx="3291840" cy="3291840"/>
          </a:xfrm>
          <a:prstGeom prst="ellipse">
            <a:avLst/>
          </a:prstGeom>
          <a:solidFill>
            <a:srgbClr val="3B4A9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Login, Five Role-Driven Screens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2630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/ Waiter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023360" y="2011680"/>
            <a:ext cx="0" cy="621792"/>
          </a:xfrm>
          <a:prstGeom prst="line">
            <a:avLst/>
          </a:prstGeom>
          <a:noFill/>
          <a:ln w="12700">
            <a:solidFill>
              <a:srgbClr val="4450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874520"/>
            <a:ext cx="2651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Entry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0" y="2011680"/>
            <a:ext cx="0" cy="621792"/>
          </a:xfrm>
          <a:prstGeom prst="line">
            <a:avLst/>
          </a:prstGeom>
          <a:noFill/>
          <a:ln w="12700">
            <a:solidFill>
              <a:srgbClr val="4450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69480" y="1874520"/>
            <a:ext cx="4069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order from the menu, choose Counter or Dine-in, take payment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16936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26305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16936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Staff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023360" y="3054096"/>
            <a:ext cx="0" cy="621792"/>
          </a:xfrm>
          <a:prstGeom prst="line">
            <a:avLst/>
          </a:prstGeom>
          <a:noFill/>
          <a:ln w="12700">
            <a:solidFill>
              <a:srgbClr val="4450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2916936"/>
            <a:ext cx="2651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Display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40880" y="3054096"/>
            <a:ext cx="0" cy="621792"/>
          </a:xfrm>
          <a:prstGeom prst="line">
            <a:avLst/>
          </a:prstGeom>
          <a:noFill/>
          <a:ln w="12700">
            <a:solidFill>
              <a:srgbClr val="4450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9480" y="2916936"/>
            <a:ext cx="4069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active order across all tables, move it through prep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59352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2630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3959352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023360" y="4096512"/>
            <a:ext cx="0" cy="621792"/>
          </a:xfrm>
          <a:prstGeom prst="line">
            <a:avLst/>
          </a:prstGeom>
          <a:noFill/>
          <a:ln w="12700">
            <a:solidFill>
              <a:srgbClr val="4450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51960" y="3959352"/>
            <a:ext cx="2651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Orders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40880" y="4096512"/>
            <a:ext cx="0" cy="621792"/>
          </a:xfrm>
          <a:prstGeom prst="line">
            <a:avLst/>
          </a:prstGeom>
          <a:noFill/>
          <a:ln w="12700">
            <a:solidFill>
              <a:srgbClr val="4450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69480" y="3959352"/>
            <a:ext cx="4069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orders marked Ready and mark them Served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001768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2630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00176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Administrator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023360" y="5138928"/>
            <a:ext cx="0" cy="621792"/>
          </a:xfrm>
          <a:prstGeom prst="line">
            <a:avLst/>
          </a:prstGeom>
          <a:noFill/>
          <a:ln w="12700">
            <a:solidFill>
              <a:srgbClr val="44509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51960" y="5001768"/>
            <a:ext cx="2651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40880" y="5138928"/>
            <a:ext cx="0" cy="621792"/>
          </a:xfrm>
          <a:prstGeom prst="line">
            <a:avLst/>
          </a:prstGeom>
          <a:noFill/>
          <a:ln w="12700">
            <a:solidFill>
              <a:srgbClr val="44509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69480" y="5001768"/>
            <a:ext cx="4069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order status counts, and low-stock alerts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Restaurant POS System  •  CSC4630 Advanced Software Engineering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OF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Role-Based Routing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staff login screen backed by Supabase Auth. Once authenticated, the app looks up the user's role and routes them straight to the screen built for their job — no menus to hunt through.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9489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80720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against Supabase Auth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349758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3558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fetched from the users → roles relationship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40462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90448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Cashier/Waiter → Order Entry, Kitchen Staff → Kitchen Display,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Manager/Administrator → Manager Dashboard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9904" y="2714012"/>
            <a:ext cx="5650992" cy="2572975"/>
          </a:xfrm>
          <a:prstGeom prst="roundRect">
            <a:avLst>
              <a:gd name="adj" fmla="val 2843"/>
            </a:avLst>
          </a:prstGeom>
          <a:solidFill>
            <a:srgbClr val="FFFFFF"/>
          </a:solidFill>
          <a:ln w="12700">
            <a:solidFill>
              <a:srgbClr val="DC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pic>
        <p:nvPicPr>
          <p:cNvPr id="12" name="Image 0" descr="/home/claude/screenshots/login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796308"/>
            <a:ext cx="5486400" cy="240838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Restaurant POS System  •  CSC4630 Advanced Software Engineering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OF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Entry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17830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Cashiers and waiters build an order from the live menu, choose Counter or Dine-in (with table selection), pick a payment method, and confirm — writing an order, its line items, and a payment record to Supabase in one flow.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89320" y="29489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63640" y="280720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totals update live as items are added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349758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33558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Dine-in orders are tied to a specific table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40462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390448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resets automatically after a successful order,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next customer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" y="3066270"/>
            <a:ext cx="5650992" cy="1868461"/>
          </a:xfrm>
          <a:prstGeom prst="roundRect">
            <a:avLst>
              <a:gd name="adj" fmla="val 3915"/>
            </a:avLst>
          </a:prstGeom>
          <a:solidFill>
            <a:srgbClr val="FFFFFF"/>
          </a:solidFill>
          <a:ln w="12700">
            <a:solidFill>
              <a:srgbClr val="DC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pic>
        <p:nvPicPr>
          <p:cNvPr id="12" name="Image 0" descr="/home/claude/screenshots/order_success_dark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148566"/>
            <a:ext cx="5486400" cy="1703869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Restaurant POS System  •  CSC4630 Advanced Software Engineering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OF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Kitchen Display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staff see every active order across every table on one live board, grouped by status, updated in real time through Supabase Realtime as new orders come 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9489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80720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shows its table and items at a glance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349758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3558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moves an order: Placed → Preparing → Ready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40462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90448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polling or manual refresh — updates push automatically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9904" y="2658321"/>
            <a:ext cx="5650992" cy="2684357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12700">
            <a:solidFill>
              <a:srgbClr val="DC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pic>
        <p:nvPicPr>
          <p:cNvPr id="12" name="Image 0" descr="/home/claude/screenshots/kitchen_display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740617"/>
            <a:ext cx="5486400" cy="251976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Restaurant POS System  •  CSC4630 Advanced Software Engineering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 OF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Orders — Waiter 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17830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kitchen marks an order Ready, it appears here for the waiter to deliver. Marking it Served closes the loop and updates the order's status for the Manager Dashboard.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89320" y="29489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63640" y="280720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to only orders that are actually Ready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349758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33558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table number and the exact items to deliver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40462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390448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“Mark Served” updates status instantly for reporting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" y="2844094"/>
            <a:ext cx="5650992" cy="2312812"/>
          </a:xfrm>
          <a:prstGeom prst="roundRect">
            <a:avLst>
              <a:gd name="adj" fmla="val 3163"/>
            </a:avLst>
          </a:prstGeom>
          <a:solidFill>
            <a:srgbClr val="FFFFFF"/>
          </a:solidFill>
          <a:ln w="12700">
            <a:solidFill>
              <a:srgbClr val="DC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pic>
        <p:nvPicPr>
          <p:cNvPr id="12" name="Image 0" descr="/home/claude/screenshots/active_orders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926390"/>
            <a:ext cx="5486400" cy="21482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Restaurant POS System  •  CSC4630 Advanced Software Engineering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5 OF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Dashboard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operational view for managers: total orders, total revenue, a live breakdown by status, and automatic low-stock alerts pulled from the inventory table.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924408" y="2386584"/>
            <a:ext cx="8342880" cy="3959352"/>
          </a:xfrm>
          <a:prstGeom prst="roundRect">
            <a:avLst>
              <a:gd name="adj" fmla="val 1848"/>
            </a:avLst>
          </a:prstGeom>
          <a:solidFill>
            <a:srgbClr val="FFFFFF"/>
          </a:solidFill>
          <a:ln w="12700">
            <a:solidFill>
              <a:srgbClr val="DC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pic>
        <p:nvPicPr>
          <p:cNvPr id="6" name="Image 0" descr="/home/claude/screenshots/manager_dashboard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6704" y="2468880"/>
            <a:ext cx="8178288" cy="3794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Restaurant POS System  •  CSC4630 Advanced Software Engineering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Defect Tracking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7830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 + integration)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0" y="169164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206240" y="17830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from Elaboration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18120" y="169164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18120" y="17830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defects found,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and logged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429000"/>
          <a:ext cx="10972800" cy="2377440"/>
        </p:xfrm>
        <a:graphic>
          <a:graphicData uri="http://schemas.openxmlformats.org/drawingml/2006/table">
            <a:tbl>
              <a:tblPr/>
              <a:tblGrid>
                <a:gridCol w="1005840"/>
                <a:gridCol w="6949440"/>
                <a:gridCol w="137160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placeholder components crashed the app on load (missing default export)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Level Security enabled with no policies — all reads silently returned 0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Orders still held placeholder code — waiter view showed no ready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Restaurant POS System  •  CSC4630 Advanced Software Engineering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206240" cy="4206240"/>
          </a:xfrm>
          <a:prstGeom prst="ellipse">
            <a:avLst/>
          </a:prstGeom>
          <a:solidFill>
            <a:srgbClr val="3B4A9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2630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tested, and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 Construction phase.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Order Entry · Kitchen Display · Active Orders · Manager Dashboard — built on React (Vite) + Supabase, verified against 13 automated tests, with every defect found, fixed, and documented.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566928" cy="566928"/>
          </a:xfrm>
          <a:prstGeom prst="ellipse">
            <a:avLst/>
          </a:prstGeom>
          <a:solidFill>
            <a:srgbClr val="3B4A9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965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212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88920" y="4343400"/>
            <a:ext cx="566928" cy="566928"/>
          </a:xfrm>
          <a:prstGeom prst="ellipse">
            <a:avLst/>
          </a:prstGeom>
          <a:solidFill>
            <a:srgbClr val="3B4A9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8892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4965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Guba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5212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4343400"/>
            <a:ext cx="566928" cy="566928"/>
          </a:xfrm>
          <a:prstGeom prst="ellipse">
            <a:avLst/>
          </a:prstGeom>
          <a:solidFill>
            <a:srgbClr val="3B4A9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5488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4965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5212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0840" y="4343400"/>
            <a:ext cx="566928" cy="566928"/>
          </a:xfrm>
          <a:prstGeom prst="ellipse">
            <a:avLst/>
          </a:prstGeom>
          <a:solidFill>
            <a:srgbClr val="3B4A9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084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965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Kalebalika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5212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686800" y="4343400"/>
            <a:ext cx="566928" cy="566928"/>
          </a:xfrm>
          <a:prstGeom prst="ellipse">
            <a:avLst/>
          </a:prstGeom>
          <a:solidFill>
            <a:srgbClr val="3B4A9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4965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5212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806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Restaurant POS System  •  CSC4630 Advanced Software Engineering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2026-09-08T11:17:26Z</dcterms:created>
  <dcterms:modified xsi:type="dcterms:W3CDTF">2026-09-08T11:17:26Z</dcterms:modified>
</cp:coreProperties>
</file>